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3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1" r:id="rId4"/>
    <p:sldId id="28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SKUs</c:v>
                </c:pt>
              </c:strCache>
            </c:strRef>
          </c:tx>
          <c:spPr>
            <a:solidFill>
              <a:srgbClr val="6B7A9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5F-4C4A-99D5-DC8AC7F0563A}"/>
              </c:ext>
            </c:extLst>
          </c:dPt>
          <c:dPt>
            <c:idx val="1"/>
            <c:invertIfNegative val="0"/>
            <c:bubble3D val="0"/>
            <c:spPr>
              <a:solidFill>
                <a:srgbClr val="E05A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5F-4C4A-99D5-DC8AC7F0563A}"/>
              </c:ext>
            </c:extLst>
          </c:dPt>
          <c:dPt>
            <c:idx val="2"/>
            <c:invertIfNegative val="0"/>
            <c:bubble3D val="0"/>
            <c:spPr>
              <a:solidFill>
                <a:srgbClr val="2DB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5F-4C4A-99D5-DC8AC7F0563A}"/>
              </c:ext>
            </c:extLst>
          </c:dPt>
          <c:dPt>
            <c:idx val="3"/>
            <c:invertIfNegative val="0"/>
            <c:bubble3D val="0"/>
            <c:spPr>
              <a:solidFill>
                <a:srgbClr val="1A2B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5F-4C4A-99D5-DC8AC7F0563A}"/>
              </c:ext>
            </c:extLst>
          </c:dPt>
          <c:dPt>
            <c:idx val="4"/>
            <c:invertIfNegative val="0"/>
            <c:bubble3D val="0"/>
            <c:spPr>
              <a:solidFill>
                <a:srgbClr val="C8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45F-4C4A-99D5-DC8AC7F0563A}"/>
              </c:ext>
            </c:extLst>
          </c:dPt>
          <c:dPt>
            <c:idx val="5"/>
            <c:invertIfNegative val="0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45F-4C4A-99D5-DC8AC7F0563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Discontinued/Dormant</c:v>
                </c:pt>
                <c:pt idx="1">
                  <c:v>Erratic</c:v>
                </c:pt>
                <c:pt idx="2">
                  <c:v>Smooth</c:v>
                </c:pt>
                <c:pt idx="3">
                  <c:v>Lumpy</c:v>
                </c:pt>
                <c:pt idx="4">
                  <c:v>Intermittent</c:v>
                </c:pt>
                <c:pt idx="5">
                  <c:v>Cold start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</c:v>
                </c:pt>
                <c:pt idx="1">
                  <c:v>45</c:v>
                </c:pt>
                <c:pt idx="2">
                  <c:v>33</c:v>
                </c:pt>
                <c:pt idx="3">
                  <c:v>31</c:v>
                </c:pt>
                <c:pt idx="4">
                  <c:v>19</c:v>
                </c:pt>
                <c:pt idx="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45F-4C4A-99D5-DC8AC7F056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7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RW-WAPE</c:v>
                </c:pt>
              </c:strCache>
            </c:strRef>
          </c:tx>
          <c:spPr>
            <a:solidFill>
              <a:srgbClr val="1A2B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Fold 1
(warmup)</c:v>
                </c:pt>
                <c:pt idx="1">
                  <c:v>Fold 2
Nov'24–May'25</c:v>
                </c:pt>
                <c:pt idx="2">
                  <c:v>Fold 3
Feb'25–Aug'25</c:v>
                </c:pt>
                <c:pt idx="3">
                  <c:v>Fold 4
May'25–Nov'25</c:v>
                </c:pt>
                <c:pt idx="4">
                  <c:v>Pooled
(2–4)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0.94799999999999995</c:v>
                </c:pt>
                <c:pt idx="2">
                  <c:v>0.65300000000000002</c:v>
                </c:pt>
                <c:pt idx="3">
                  <c:v>0.77800000000000002</c:v>
                </c:pt>
                <c:pt idx="4">
                  <c:v>0.78800000000000003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96-4271-A858-C73BFABD35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E05A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Fold 1
(warmup)</c:v>
                </c:pt>
                <c:pt idx="1">
                  <c:v>Fold 2
Nov'24–May'25</c:v>
                </c:pt>
                <c:pt idx="2">
                  <c:v>Fold 3
Feb'25–Aug'25</c:v>
                </c:pt>
                <c:pt idx="3">
                  <c:v>Fold 4
May'25–Nov'25</c:v>
                </c:pt>
                <c:pt idx="4">
                  <c:v>Pooled
(2–4)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96-4271-A858-C73BFABD35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7F7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WAPE</c:v>
                </c:pt>
              </c:strCache>
            </c:strRef>
          </c:tx>
          <c:spPr>
            <a:solidFill>
              <a:srgbClr val="6B7A9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Smooth</c:v>
                </c:pt>
                <c:pt idx="1">
                  <c:v>Erratic</c:v>
                </c:pt>
                <c:pt idx="2">
                  <c:v>Lumpy</c:v>
                </c:pt>
                <c:pt idx="3">
                  <c:v>Intermittent</c:v>
                </c:pt>
                <c:pt idx="4">
                  <c:v>Blended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</c:v>
                </c:pt>
                <c:pt idx="1">
                  <c:v>0.75</c:v>
                </c:pt>
                <c:pt idx="2">
                  <c:v>1.1000000000000001</c:v>
                </c:pt>
                <c:pt idx="3">
                  <c:v>0.6</c:v>
                </c:pt>
                <c:pt idx="4">
                  <c:v>0.78800000000000003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73-4AAE-BEA6-22341CA077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(L1+L2)</c:v>
                </c:pt>
              </c:strCache>
            </c:strRef>
          </c:tx>
          <c:spPr>
            <a:solidFill>
              <a:srgbClr val="1A2B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Smooth</c:v>
                </c:pt>
                <c:pt idx="1">
                  <c:v>Erratic</c:v>
                </c:pt>
                <c:pt idx="2">
                  <c:v>Lumpy</c:v>
                </c:pt>
                <c:pt idx="3">
                  <c:v>Intermittent</c:v>
                </c:pt>
                <c:pt idx="4">
                  <c:v>Blended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0.25</c:v>
                </c:pt>
                <c:pt idx="1">
                  <c:v>0.55000000000000004</c:v>
                </c:pt>
                <c:pt idx="2">
                  <c:v>0.8</c:v>
                </c:pt>
                <c:pt idx="3">
                  <c:v>0.5</c:v>
                </c:pt>
                <c:pt idx="4">
                  <c:v>0.625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73-4AAE-BEA6-22341CA077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Expected (+ promo)</c:v>
                </c:pt>
              </c:strCache>
            </c:strRef>
          </c:tx>
          <c:spPr>
            <a:solidFill>
              <a:srgbClr val="2DBB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Smooth</c:v>
                </c:pt>
                <c:pt idx="1">
                  <c:v>Erratic</c:v>
                </c:pt>
                <c:pt idx="2">
                  <c:v>Lumpy</c:v>
                </c:pt>
                <c:pt idx="3">
                  <c:v>Intermittent</c:v>
                </c:pt>
                <c:pt idx="4">
                  <c:v>Blended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0.2</c:v>
                </c:pt>
                <c:pt idx="1">
                  <c:v>0.45</c:v>
                </c:pt>
                <c:pt idx="2">
                  <c:v>0.65</c:v>
                </c:pt>
                <c:pt idx="3">
                  <c:v>0.4</c:v>
                </c:pt>
                <c:pt idx="4">
                  <c:v>0.52500000000000002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73-4AAE-BEA6-22341CA0774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E05A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Smooth</c:v>
                </c:pt>
                <c:pt idx="1">
                  <c:v>Erratic</c:v>
                </c:pt>
                <c:pt idx="2">
                  <c:v>Lumpy</c:v>
                </c:pt>
                <c:pt idx="3">
                  <c:v>Intermittent</c:v>
                </c:pt>
                <c:pt idx="4">
                  <c:v>Blended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773-4AAE-BEA6-22341CA077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7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53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" cy="201168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FONTANA CANDLE 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forecast.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7 · Results &amp; Road Map.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· What Failed · What's Next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SKUs · 114 features · 7 model families · RW-WAPE 0.788 · Target &lt; 0.60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5568" y="14904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&amp;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7282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three source files, cleaning decisions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" y="2258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15568" y="22402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478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per stage — io → forecast → publish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" y="30083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5568" y="2990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Segmentation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227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Syntetos-Boylan + K-means clustering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" y="37581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15568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9776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leakage-safe columns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41732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102352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96128" y="14904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96128" y="17282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folds, 7 families, WAPE 0.788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16712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102352" y="2258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96128" y="22402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Failed &amp; Why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96128" y="2478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TweedieGLM, Chronos-T5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91693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02352" y="30083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96128" y="2990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&amp; Levers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96128" y="3227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close 0.188 to hit &lt; 0.60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Fontana Candle Co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— SLIDE 1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plain average error would lie to 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scenario. Two very different realities. One metric tells the truth.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77640" cy="1389888"/>
          </a:xfrm>
          <a:prstGeom prst="roundRect">
            <a:avLst>
              <a:gd name="adj" fmla="val 5263"/>
            </a:avLst>
          </a:prstGeom>
          <a:solidFill>
            <a:srgbClr val="F0FDFB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Jar Candle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130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 per unit · sells 500 units/week · revenue = $24,000/week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Forecast: 500   Actual: 550   Error: 50 units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715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 = 50/550 = 0.09   →   9% off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977640" cy="1389888"/>
          </a:xfrm>
          <a:prstGeom prst="roundRect">
            <a:avLst>
              <a:gd name="adj" fmla="val 5263"/>
            </a:avLst>
          </a:prstGeom>
          <a:solidFill>
            <a:srgbClr val="FFF8F7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3337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Tealight Pack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3639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 per unit · sells 20 units/week · revenue = $80/week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931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Forecast: 20   Actual: 10   Error: 10 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4224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 = 10/10 = 1.00   →   100% off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D1B3E"/>
          </a:solidFill>
          <a:ln w="12700">
            <a:solidFill>
              <a:srgbClr val="E4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AVERAGE SAYS: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(0.09 + 1.00) / 2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C8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0.545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272491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"Mediocre forecast."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246120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F0FDFB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33375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REVENUE-WEIGHTED SAYS: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621024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 = 99.7% of revenue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RW-WAPE ≈ 0.09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0" y="425196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"Excellent forecast on what matters."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Fontana Candle Co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— SLIDE 2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RW-WAPE is calculated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21792" y="1554480"/>
            <a:ext cx="475488" cy="475488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actual revenue per SKU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653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units sold × price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entire validation window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" y="2395728"/>
            <a:ext cx="36393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450592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Jar: 2,400 units × $48 = $115,200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Tealight: 8,000 units × $4 = $32,000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1792" y="3218688"/>
            <a:ext cx="475488" cy="475488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" y="3218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2186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each SKU's revenue weight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5295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= SKU revenue ÷ total revenue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220 SKUs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4059936"/>
            <a:ext cx="36393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" y="411480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weight = 115,200 / 1,000,000 = 11.5%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Tealight weight = 32,000 / 1,000,000 = 3.2%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389888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28032" y="1554480"/>
            <a:ext cx="475488" cy="475488"/>
          </a:xfrm>
          <a:prstGeom prst="ellipse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2803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40680" y="15544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each SKU's forecast error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18653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 = total |forecast − actual|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÷ total actual demand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2395728"/>
            <a:ext cx="36393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28032" y="2450592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formulation never divides by zero.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Zero-sale weeks are handled safely.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054096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28032" y="3218688"/>
            <a:ext cx="475488" cy="475488"/>
          </a:xfrm>
          <a:prstGeom prst="ellipse">
            <a:avLst/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28032" y="3218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40680" y="32186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weight × error and sum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35295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RW-WAPE = Σ (weight × WAPE)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SKUs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28032" y="4059936"/>
            <a:ext cx="36393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28032" y="411480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High-revenue SKUs pull the score.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Low-revenue SKUs barely move 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61772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0D1B3E"/>
          </a:solidFill>
          <a:ln w="12700">
            <a:solidFill>
              <a:srgbClr val="E4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0080" y="46634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RW-WAPE = 0.788 means: weighted by revenue, the forecast is off by 78.8% of actual demand on average.  Target &lt; 0.60.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Fontana Candle Co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client needed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DTC candle brand.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prior forecasting.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164592" cy="164592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87552" y="2231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sales forecast — every SKU, 26 weeks ahead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2761488"/>
            <a:ext cx="164592" cy="164592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87552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output — 19 quantile levels, P05 → P95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3236976"/>
            <a:ext cx="164592" cy="164592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87552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— best model per demand type, automatically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" y="3712464"/>
            <a:ext cx="164592" cy="164592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87552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Revenue-weighted error scoring (not flat WAPE)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" y="4187952"/>
            <a:ext cx="164592" cy="164592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87552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dashboard the business can 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0D1B3E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4632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BAR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8105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RW-WAPE &lt; 0.60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846320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Revenue-Weighted WAPE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090672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4632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RAW FILES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CSV — weekly Shopify sales, Dec 2020–May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master — price, type, status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215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export — lifecycle status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 We Did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cleaning — Day 1 findings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SKUs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151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Gift Card + return exclusion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97480" y="15087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5176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history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6151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2020 → May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16,068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grid rows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6151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zero-filled within active window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03720" y="15087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8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excluded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6151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Cards &amp; return records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64992"/>
            <a:ext cx="8321040" cy="1417320"/>
          </a:xfrm>
          <a:prstGeom prst="roundRect">
            <a:avLst>
              <a:gd name="adj" fmla="val 5161"/>
            </a:avLst>
          </a:prstGeom>
          <a:solidFill>
            <a:srgbClr val="FFF8F7"/>
          </a:solidFill>
          <a:ln w="12700">
            <a:solidFill>
              <a:srgbClr val="E05A4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5800" y="3456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Day 1 Surprise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76732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SKUs — Gift Cards and 'return' records — passed every initial filter. Scope showed 229 instead of 220. Financial transactions were about to be forecast as physical demand. Fixed: exclude product_types 'Gift Card' and 'return'. One-line YAML change.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 We Did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module per pipeline stage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1499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3 files → filter → 220 SKUs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densify.py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21854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Zero-fill weekly grid → 16,068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" y="2852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(139) / Dormant (81) / Cold (11)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4728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3538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3557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Syntetos-Boylan + K-means clustering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3308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242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114-column leakage-safe feature matrix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38988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19472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1499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Revenue-weighted WAPE scoring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07568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19472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1854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CV — pick winner per segment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76148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19472" y="2852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forecast.py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each SKU to winning model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44728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19472" y="3538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reconcile.py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557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hierarchy reconciliation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13308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19472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publish.py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4242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tables → Streamlit dashboard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452628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0D1B3E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19472" y="45537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496 tests · all passing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 We Did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classification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99616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920240" y="14996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0240" y="18653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within last 26 weeks — full forecast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670048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8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920240" y="26700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30358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 ≥ 26 weeks — zero forecast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30752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920240" y="3840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024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master, zero sales history — hierarchy borrowing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1389888"/>
            <a:ext cx="3017520" cy="3383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rule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weeks_since_last_sale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26 weeks 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514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master, 0 sales 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cold_start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794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4206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dormant SKUs pollute the error metric and waste model capacity if treated as active.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 We Did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SEGMENTATION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Syntetos-Boylan classification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71800" y="1371600"/>
            <a:ext cx="1508760" cy="1645920"/>
          </a:xfrm>
          <a:prstGeom prst="roundRect">
            <a:avLst>
              <a:gd name="adj" fmla="val 4848"/>
            </a:avLst>
          </a:prstGeom>
          <a:solidFill>
            <a:srgbClr val="F0FDFB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063240" y="1435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06324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regularly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volume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1508760" cy="1645920"/>
          </a:xfrm>
          <a:prstGeom prst="roundRect">
            <a:avLst>
              <a:gd name="adj" fmla="val 4848"/>
            </a:avLst>
          </a:prstGeom>
          <a:solidFill>
            <a:srgbClr val="FEF6F5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63440" y="1435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regularly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vol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71800" y="3108960"/>
            <a:ext cx="1508760" cy="1645920"/>
          </a:xfrm>
          <a:prstGeom prst="roundRect">
            <a:avLst>
              <a:gd name="adj" fmla="val 4848"/>
            </a:avLst>
          </a:prstGeom>
          <a:solidFill>
            <a:srgbClr val="FFFBF0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063240" y="31729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06324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24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with gaps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volume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108960"/>
            <a:ext cx="1508760" cy="1645920"/>
          </a:xfrm>
          <a:prstGeom prst="roundRect">
            <a:avLst>
              <a:gd name="adj" fmla="val 4848"/>
            </a:avLst>
          </a:prstGeom>
          <a:solidFill>
            <a:srgbClr val="F5F6FA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0" y="31729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6344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with gaps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vol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63240" y="1051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CV² &lt; 0.49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1051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CV² ≥ 0.49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17830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1.32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35204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1.32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1325880"/>
            <a:ext cx="2286000" cy="3474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1792" y="1463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statistics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SKU: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weeks between non-zero sales. ADI=1 = sells every week.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CV²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CoV of demand sizes. CV²=0 = perfectly consistent.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132588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FF8F7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0080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special cases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start: &lt; 13 weeks history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Discontinued: no sale ≥ 26 weeks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127248"/>
            <a:ext cx="2560320" cy="1673352"/>
          </a:xfrm>
          <a:prstGeom prst="roundRect">
            <a:avLst>
              <a:gd name="adj" fmla="val 4372"/>
            </a:avLst>
          </a:prstGeom>
          <a:solidFill>
            <a:srgbClr val="0D1B3E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46520" y="3246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44652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catalog is dormant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SKUs haven't sold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6+ months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 We Did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SEGMENTATION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220 SKUs look like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2588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325880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199632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is the hard problem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99632" y="1719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+ Lumpy = 76 SKUs. These dominate WAPE.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587752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199632" y="2679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wins 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99632" y="29809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Lumpy &amp; Intermittent: SeasonalNaive beat every complex model.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3849624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199632" y="3941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catalog is real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99632" y="42428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dormant SKUs get ZeroForecast. That's correct, not lazy.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 We Did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SEGMENTATION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on top of SB — why and what it found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K-means?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classification tells us demand shape — not revenue scale. A $4 votive and a $48 luxury jar can both be 'erratic.' Pooling them in one LightGBM gives confused signal (12× magnitude difference). K-means clusters on revenue features so the global ML model trains on economically similar SKUs.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  (ARI stability rule)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995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1.000 — perfectly stable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288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 high-revenue / mid-tier / rest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581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~73 SKUs per cluster (coarse)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4069080" cy="1737360"/>
          </a:xfrm>
          <a:prstGeom prst="roundRect">
            <a:avLst>
              <a:gd name="adj" fmla="val 4211"/>
            </a:avLst>
          </a:prstGeom>
          <a:solidFill>
            <a:srgbClr val="FFF8F7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9204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7556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is coarser than ideal (target K=8). ~73 SKUs per cluster pool quite different patterns. This hurts LightGBM precision.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24612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0FDFB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9204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(10-min config change)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6758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pooling boundary from K-means revenue clusters to SB segment itself. Architecture already supports it — zero code changes.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 We Did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 leakage-safe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0432" y="14447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6733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1, 2, 4, 8, 13, 26, 52 wks ago — direct demand signal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70432" y="21305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3591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 / 13 / 26-week rolling averages — noise smoothing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70432" y="28163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seasonality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30449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Sine/cosine encoding of annual + semi-annual cycles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0432" y="35021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indicators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32" y="37307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US/UK public holidays — demand lift is real and systematic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70432" y="4187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features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44165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age, weeks since launch, weeks since last sale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37160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92040" y="1463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68112" y="14447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cluster aggregates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68112" y="16733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cluster sold (ex-self) — catches promo/channel shifts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05740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92040" y="2148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68112" y="21305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aggregates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68112" y="23591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Product-type totals — category trend signal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74320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92040" y="2834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68112" y="28163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segment one-hot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68112" y="30449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type as binary flags — model applies different behaviours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42900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92040" y="3520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68112" y="35021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variant count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68112" y="37307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scale + product importance proxy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498848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0FDFB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19472" y="45445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LOO cluster aggregates are the most important non-obvious feature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 We Did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CV Results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folds · 7 model families · RW-WAPE = 0.788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CV 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4-fold rolling-origin cross-validation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25880"/>
          <a:ext cx="54864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32588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336792" y="1435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 — 0.948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36792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surge — 73% of SKUs saw Q4 for the first time. Every model undershot.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260604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36792" y="2715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 — 0.653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36792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target. Smooth &amp; Erratic models performing. One fold below 0.60 is reachable.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388620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336792" y="3995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— 0.788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36792" y="4297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of 0.188 to target. Almost entirely fold 2 drag.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CV Results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Winning models per segment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21792" y="1426464"/>
            <a:ext cx="164592" cy="164592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96112" y="1353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353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TrendSeasonalModel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57800" y="13533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 × clipped YoY growth [0.5, 3.0]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21792" y="2002536"/>
            <a:ext cx="164592" cy="164592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96112" y="19293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9293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B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RecentLevelModel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9293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mean — dead SKUs automatically near-zero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1792" y="2578608"/>
            <a:ext cx="164592" cy="164592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96112" y="2505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5054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SeasonalNaive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250545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Last-year-same-week beats complex models on sparse demand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54096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1792" y="3154680"/>
            <a:ext cx="164592" cy="164592"/>
          </a:xfrm>
          <a:prstGeom prst="ellipse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96112" y="3081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3081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SeasonalNaive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0815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gaps + stable volume, recency beats history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30168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1792" y="3730752"/>
            <a:ext cx="164592" cy="164592"/>
          </a:xfrm>
          <a:prstGeom prst="ellipse">
            <a:avLst/>
          </a:prstGeom>
          <a:solidFill>
            <a:srgbClr val="6B7A9B"/>
          </a:solidFill>
          <a:ln w="12700">
            <a:solidFill>
              <a:srgbClr val="6B7A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96112" y="3657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3657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SeasonalNaive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36576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fallback when &lt; 52 weeks history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0D1B3E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44348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verdict: simplest models won. Dormant (81 SKUs) → ZeroForecast. Complexity requires history — 73% of catalog doesn't have it.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CV Results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fold 2 was so bad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0.948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RW-WAPE Fold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(target: &lt; 0.60)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292608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 – May 2025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full holiday season.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858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SKUs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seen Christmas before.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36592" y="14173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spiked 3–5×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36592" y="169164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SKUs launched after 2022. The model had never seen Black Friday for these.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240280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36592" y="23317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had nothing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6592" y="260604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52-week lag = no data for most SKUs. The anchor the model relies on was missing.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154680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36592" y="32461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undershot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6592" y="352044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pattern to anchor to. This is a data maturity problem, not a code problem.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4069080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36592" y="41605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holiday is always unforeseeable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443484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 with a young catalog will always face this. Year two will be dramatically better.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CV Results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guardrail — 80% PI coverage [0.75, 0.85]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8F7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35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58.5%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764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41448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8F7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5511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~65%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57016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0FDFB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6667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SeasonalNaive (after)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0.779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3995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4069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37760" y="1444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post-hoc conformal calibration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81051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Binary-search for a scalar alpha that stretches raw prediction intervals until holdout coverage lands inside [0.75, 0.85]. Works for fold 3. Fold 2 is too volatile — even stretched intervals miss the holiday tails.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858768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8F7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37760" y="3959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LightGBM failed calibration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2519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pools ~73 dissimilar SKUs. Global model can't learn separate patterns for $4 vs $48 SKUs. Calibration helps but doesn't fully close the gap.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CV Results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Failed &amp; Why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already paid for — so you don't pay again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 Failed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failures — four families eliminated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21792" y="1444752"/>
            <a:ext cx="201168" cy="201168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 &amp; Theta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 1.718 (fold 4 Theta)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7556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Over-extrapolated on erratic SKUs. Holiday spike in fold 2 → model projects continued growth → nonsense forecasts on the next fold.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57800" y="13898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Replaced with TrendSeasonalModel — clips YoY growth to [0.5, 3.0×].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21792" y="2340864"/>
            <a:ext cx="201168" cy="201168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2688" y="22677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TweedieGLM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2677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CRPS = 151 (fold 3 — catastrophic)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2651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unstable on sparse, mixed-scale SKUs. CRPS of 151 is a sign the probability distributions collapsed.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57800" y="22860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Discarded from deployment entirely.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18104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1792" y="3236976"/>
            <a:ext cx="201168" cy="201168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32688" y="31638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1638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PI coverage = 58.5%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3547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clusters ~73 dissimilar SKUs per pool. $4 and $48 SKUs in the same training set — model learns nothing precise about either.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318211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Rejected on calibration guardrail. Fix: segment-as-cluster (see Lever 2).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14216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1792" y="4133088"/>
            <a:ext cx="201168" cy="201168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32688" y="4059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Chronos-T5-tiny (foundation model)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26080" y="4059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 1.252 vs SeasonalNaive 0.786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" y="44439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foundation models are designed for SKUs with zero training data. In-catalog SKUs with even 4–8 weeks of history are better served by a simple seasonal baseline.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407822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Removed from competition. Reserved for true cold-start (no history at all).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 Failed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lessons — what not to 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include non-product SKUs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66420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audit product type distribution before running any model. Gift Cards and return records are silent poison — they inflate scope and contribute demand no model can predict.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20848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the wrong K selection rule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3774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was triggering on silhouette &lt; 0.40. Spec says ARI stability &lt; 0.50. Two different rules, different K values. Verify which criterion your spec requires before running cluster selection.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79806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skip the baseline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09067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models/baseline.py was a stub for two days. SeasonalNaive registered but not implemented — 84 short-history SKUs had no fallback. The first thing to build is always the simplest possible baseline.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351129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35112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mistake Jensen's inequality for a bug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8039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reconciler flagged a 'coherence failure.' For right-skewed demand, median(sum) &gt; sum(medians) is mathematically expected. Ratio was 1.57 — exactly where theory says it should be.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78808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422452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4224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pool dissimilar SKUs in one global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51713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pools ~73 SKUs per cluster. $4 votive and $48 luxury jar in the same LightGBM = mediocre for both. Smaller, purer pools outperform larger mixed ones.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 Failed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levers to close the gap from 0.788 to &lt; 0.60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What's Next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 need to close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94360" y="24505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RW-WAPE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29000" y="1508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8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0.188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29000" y="24505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63640" y="1508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0.60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63640" y="24505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RW-WAPE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8321040" cy="1389888"/>
          </a:xfrm>
          <a:prstGeom prst="roundRect">
            <a:avLst>
              <a:gd name="adj" fmla="val 5263"/>
            </a:avLst>
          </a:prstGeom>
          <a:solidFill>
            <a:srgbClr val="F7F8FB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gap comes from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2219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of the 0.188 gap lives in Fold 2 — the first full holiday season for a catalog where 73% of SKUs have &lt; 24 months of history. Fold 3 alone is already 0.653. The pipeline is not broken. The catalog is young.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What's Next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levers, ordered by effort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70432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maturity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691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catalog ages, fold 2 dissolves on its own. Two holiday cycles → lag features contain the pattern. No code changes needed.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9788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effort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97880" y="1664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~0.10 WAPE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224942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70432" y="2267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Segment-as-cluster for LightGBM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25877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K-means revenue clusters with SB segment as pooling boundary. Directly fixes the 58.5% PI coverage failure.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788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(10-min config)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~0.05–0.10 WAPE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18104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314553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170432" y="3163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column reduction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4838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from 20 to 10 Fourier columns. Removes collinear columns, may improve LightGBM generalization. Quick A/B.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3163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3456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14216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" y="404164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170432" y="40599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regressors (promo calendar)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0432" y="43799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promo calendar, email send dates, paid ad spend as features. Holiday surges become foreseeable. Biggest impact lever.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97880" y="4059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4352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~0.15–0.20 WAPE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What's Next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4 — HIGH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regressors — making holiday surges foreseeable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6052" y="1472184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Shopify already has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920240"/>
            <a:ext cx="146304" cy="146304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9264" y="1865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calendar — discount codes, sale events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514600"/>
            <a:ext cx="146304" cy="146304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9264" y="2459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 dates + open rates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3108960"/>
            <a:ext cx="146304" cy="146304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69264" y="3054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 spend by week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" y="3703320"/>
            <a:ext cx="146304" cy="146304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9264" y="3648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Site-wide discount flags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315968"/>
            <a:ext cx="356616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4930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ad spend 3×, demand 2×"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"Week of 20% site-wide sale: erratic SKUs +4×"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132588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0D1B3E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0060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WAPE improvement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75564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 – 0.20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800600" y="2377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pooled WAPE — largest single lever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3218688"/>
            <a:ext cx="4160520" cy="1673352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00600" y="33375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requires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73168" y="3712464"/>
            <a:ext cx="128016" cy="128016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834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API data pipeline (new)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73168" y="4096512"/>
            <a:ext cx="128016" cy="128016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8348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 slot into features.py (existing)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73168" y="4480560"/>
            <a:ext cx="128016" cy="128016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83480" y="4425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architecture change — config only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What's Next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WAPE after applying levers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25880"/>
          <a:ext cx="83210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What's Next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 — and why it's fine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F0FDFB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B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solid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128016" cy="128016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96112" y="1819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 — one module per stage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58568"/>
            <a:ext cx="128016" cy="128016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96112" y="22037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496 tests, all passing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642616"/>
            <a:ext cx="128016" cy="128016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96112" y="2587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model families ran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026664"/>
            <a:ext cx="128016" cy="128016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works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410712"/>
            <a:ext cx="128016" cy="128016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6112" y="3355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— new client = new YAML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794760"/>
            <a:ext cx="128016" cy="128016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96112" y="3739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models won (right answer for young catalog)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4178808"/>
            <a:ext cx="128016" cy="128016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96112" y="4123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guardrail working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4562856"/>
            <a:ext cx="128016" cy="128016"/>
          </a:xfrm>
          <a:prstGeom prst="ellipse">
            <a:avLst/>
          </a:prstGeom>
          <a:solidFill>
            <a:srgbClr val="2DBB9A"/>
          </a:solidFill>
          <a:ln w="12700">
            <a:solidFill>
              <a:srgbClr val="2DB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96112" y="4507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reconciliation correct (Jensen = expected)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32588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FF8F7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00600" y="14447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(0.188) is one fold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80136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 = first full holiday season for a young catalog. Not a modelling failure. A data maturity problem. Fold 3 alone: 0.653. Already near target with one fold removed.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3218688"/>
            <a:ext cx="4160520" cy="1673352"/>
          </a:xfrm>
          <a:prstGeom prst="roundRect">
            <a:avLst>
              <a:gd name="adj" fmla="val 4372"/>
            </a:avLst>
          </a:prstGeom>
          <a:solidFill>
            <a:srgbClr val="0D1B3E"/>
          </a:solidFill>
          <a:ln w="12700">
            <a:solidFill>
              <a:srgbClr val="E4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00600" y="33375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run targets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6758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Segment-as-cluster → fix LightGBM calibration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40599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calendar → holiday surges foreseeable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444398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WAPE ~ 0.50–0.55 is plausible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Summary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" cy="201168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· FONTANA CANDLE 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7.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complete. CV results in. Levers identified.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730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in scope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76272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76272" y="3730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95344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95344" y="3730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14416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14416" y="3730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RW-WAPE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33488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B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0.60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33488" y="3730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segment-as-cluster + promo calendar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2854</Words>
  <Application>Microsoft Office PowerPoint</Application>
  <PresentationFormat>On-screen Show (16:9)</PresentationFormat>
  <Paragraphs>500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Pipeline — Fontana Candle Co</dc:title>
  <dc:subject>PptxGenJS Presentation</dc:subject>
  <dc:creator>PptxGenJS</dc:creator>
  <cp:lastModifiedBy>Bhattacharya, Swarnendu (Cognizant)</cp:lastModifiedBy>
  <cp:revision>2</cp:revision>
  <dcterms:created xsi:type="dcterms:W3CDTF">2026-06-22T17:15:34Z</dcterms:created>
  <dcterms:modified xsi:type="dcterms:W3CDTF">2026-06-22T17:46:10Z</dcterms:modified>
</cp:coreProperties>
</file>